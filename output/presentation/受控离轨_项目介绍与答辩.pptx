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ce7c6b7e8a443f" /><Relationship Type="http://schemas.openxmlformats.org/officeDocument/2006/relationships/extended-properties" Target="/docProps/app.xml" Id="Re6d4f7fd26c14489" /><Relationship Type="http://schemas.openxmlformats.org/officeDocument/2006/relationships/officeDocument" Target="/ppt/presentation.xml" Id="R17b309e7971f4c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355b6ecbd445ff"/>
  </p:sldMasterIdLst>
  <p:notesMasterIdLst>
    <p:notesMasterId xmlns:r="http://schemas.openxmlformats.org/officeDocument/2006/relationships" r:id="Rec5a3bf7e5b540e1"/>
  </p:notesMasterIdLst>
  <p:sldIdLst>
    <p:sldId xmlns:r="http://schemas.openxmlformats.org/officeDocument/2006/relationships" id="256" r:id="Rb9bcfc4f82844f7a"/>
    <p:sldId xmlns:r="http://schemas.openxmlformats.org/officeDocument/2006/relationships" id="257" r:id="R85b988a5ebb54bdf"/>
    <p:sldId xmlns:r="http://schemas.openxmlformats.org/officeDocument/2006/relationships" id="258" r:id="Rddd3e14db9834fd8"/>
    <p:sldId xmlns:r="http://schemas.openxmlformats.org/officeDocument/2006/relationships" id="259" r:id="R76d257dd852f425c"/>
    <p:sldId xmlns:r="http://schemas.openxmlformats.org/officeDocument/2006/relationships" id="260" r:id="R4d7eeb5451474346"/>
    <p:sldId xmlns:r="http://schemas.openxmlformats.org/officeDocument/2006/relationships" id="261" r:id="R6bb28fb40b9d4c33"/>
    <p:sldId xmlns:r="http://schemas.openxmlformats.org/officeDocument/2006/relationships" id="262" r:id="Rec1802713b354401"/>
    <p:sldId xmlns:r="http://schemas.openxmlformats.org/officeDocument/2006/relationships" id="263" r:id="R01b15e7ffca44a32"/>
    <p:sldId xmlns:r="http://schemas.openxmlformats.org/officeDocument/2006/relationships" id="264" r:id="R73bb249d85374822"/>
    <p:sldId xmlns:r="http://schemas.openxmlformats.org/officeDocument/2006/relationships" id="265" r:id="Rfbf650496e184d09"/>
    <p:sldId xmlns:r="http://schemas.openxmlformats.org/officeDocument/2006/relationships" id="266" r:id="Raae260541df44880"/>
    <p:sldId xmlns:r="http://schemas.openxmlformats.org/officeDocument/2006/relationships" id="267" r:id="R0482e9812d6e490a"/>
    <p:sldId xmlns:r="http://schemas.openxmlformats.org/officeDocument/2006/relationships" id="268" r:id="Re69a66397b294a1d"/>
    <p:sldId xmlns:r="http://schemas.openxmlformats.org/officeDocument/2006/relationships" id="269" r:id="R5734f709baa74cdf"/>
    <p:sldId xmlns:r="http://schemas.openxmlformats.org/officeDocument/2006/relationships" id="270" r:id="R5b43f2258f43475a"/>
    <p:sldId xmlns:r="http://schemas.openxmlformats.org/officeDocument/2006/relationships" id="271" r:id="Rcfad792a1c40442a"/>
    <p:sldId xmlns:r="http://schemas.openxmlformats.org/officeDocument/2006/relationships" id="272" r:id="R1fa9ba6ff2a543fb"/>
    <p:sldId xmlns:r="http://schemas.openxmlformats.org/officeDocument/2006/relationships" id="273" r:id="Rf1ce034a71b2415d"/>
    <p:sldId xmlns:r="http://schemas.openxmlformats.org/officeDocument/2006/relationships" id="274" r:id="R14e52e6113cd4190"/>
    <p:sldId xmlns:r="http://schemas.openxmlformats.org/officeDocument/2006/relationships" id="275" r:id="R401457db746343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af3a8c4f854e40" /><Relationship Type="http://schemas.openxmlformats.org/officeDocument/2006/relationships/slideMaster" Target="/ppt/slideMasters/slideMaster1.xml" Id="R86355b6ecbd445ff" /><Relationship Type="http://schemas.openxmlformats.org/officeDocument/2006/relationships/notesMaster" Target="/ppt/notesMasters/notesMaster1.xml" Id="Rec5a3bf7e5b540e1" /><Relationship Type="http://schemas.openxmlformats.org/officeDocument/2006/relationships/presProps" Target="/ppt/presProps.xml" Id="Raa6d1b5b1a0049ff" /><Relationship Type="http://schemas.openxmlformats.org/officeDocument/2006/relationships/tableStyles" Target="/ppt/tableStyles.xml" Id="R727251cc24c042f6" /><Relationship Type="http://schemas.openxmlformats.org/officeDocument/2006/relationships/slide" Target="/ppt/slides/slide1.xml" Id="Rb9bcfc4f82844f7a" /><Relationship Type="http://schemas.openxmlformats.org/officeDocument/2006/relationships/slide" Target="/ppt/slides/slide2.xml" Id="R85b988a5ebb54bdf" /><Relationship Type="http://schemas.openxmlformats.org/officeDocument/2006/relationships/slide" Target="/ppt/slides/slide3.xml" Id="Rddd3e14db9834fd8" /><Relationship Type="http://schemas.openxmlformats.org/officeDocument/2006/relationships/slide" Target="/ppt/slides/slide4.xml" Id="R76d257dd852f425c" /><Relationship Type="http://schemas.openxmlformats.org/officeDocument/2006/relationships/slide" Target="/ppt/slides/slide5.xml" Id="R4d7eeb5451474346" /><Relationship Type="http://schemas.openxmlformats.org/officeDocument/2006/relationships/slide" Target="/ppt/slides/slide6.xml" Id="R6bb28fb40b9d4c33" /><Relationship Type="http://schemas.openxmlformats.org/officeDocument/2006/relationships/slide" Target="/ppt/slides/slide7.xml" Id="Rec1802713b354401" /><Relationship Type="http://schemas.openxmlformats.org/officeDocument/2006/relationships/slide" Target="/ppt/slides/slide8.xml" Id="R01b15e7ffca44a32" /><Relationship Type="http://schemas.openxmlformats.org/officeDocument/2006/relationships/slide" Target="/ppt/slides/slide9.xml" Id="R73bb249d85374822" /><Relationship Type="http://schemas.openxmlformats.org/officeDocument/2006/relationships/slide" Target="/ppt/slides/slide10.xml" Id="Rfbf650496e184d09" /><Relationship Type="http://schemas.openxmlformats.org/officeDocument/2006/relationships/slide" Target="/ppt/slides/slide11.xml" Id="Raae260541df44880" /><Relationship Type="http://schemas.openxmlformats.org/officeDocument/2006/relationships/slide" Target="/ppt/slides/slide12.xml" Id="R0482e9812d6e490a" /><Relationship Type="http://schemas.openxmlformats.org/officeDocument/2006/relationships/slide" Target="/ppt/slides/slide13.xml" Id="Re69a66397b294a1d" /><Relationship Type="http://schemas.openxmlformats.org/officeDocument/2006/relationships/slide" Target="/ppt/slides/slide14.xml" Id="R5734f709baa74cdf" /><Relationship Type="http://schemas.openxmlformats.org/officeDocument/2006/relationships/slide" Target="/ppt/slides/slide15.xml" Id="R5b43f2258f43475a" /><Relationship Type="http://schemas.openxmlformats.org/officeDocument/2006/relationships/slide" Target="/ppt/slides/slide16.xml" Id="Rcfad792a1c40442a" /><Relationship Type="http://schemas.openxmlformats.org/officeDocument/2006/relationships/slide" Target="/ppt/slides/slide17.xml" Id="R1fa9ba6ff2a543fb" /><Relationship Type="http://schemas.openxmlformats.org/officeDocument/2006/relationships/slide" Target="/ppt/slides/slide18.xml" Id="Rf1ce034a71b2415d" /><Relationship Type="http://schemas.openxmlformats.org/officeDocument/2006/relationships/slide" Target="/ppt/slides/slide19.xml" Id="R14e52e6113cd4190" /><Relationship Type="http://schemas.openxmlformats.org/officeDocument/2006/relationships/slide" Target="/ppt/slides/slide20.xml" Id="R401457db746343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db7b66d3204c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0697cef1554433" /><Relationship Type="http://schemas.openxmlformats.org/officeDocument/2006/relationships/notesMaster" Target="/ppt/notesMasters/notesMaster1.xml" Id="Rf5649a30d84545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933d9ec3374a1f" /><Relationship Type="http://schemas.openxmlformats.org/officeDocument/2006/relationships/notesMaster" Target="/ppt/notesMasters/notesMaster1.xml" Id="R7c389c40f70b40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85d934c9b84442" /><Relationship Type="http://schemas.openxmlformats.org/officeDocument/2006/relationships/notesMaster" Target="/ppt/notesMasters/notesMaster1.xml" Id="R58c98798a8e640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0a2ff9901644e5" /><Relationship Type="http://schemas.openxmlformats.org/officeDocument/2006/relationships/notesMaster" Target="/ppt/notesMasters/notesMaster1.xml" Id="Rde06c76e252b4c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669b4a50334cde" /><Relationship Type="http://schemas.openxmlformats.org/officeDocument/2006/relationships/notesMaster" Target="/ppt/notesMasters/notesMaster1.xml" Id="R6d233106febd4e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7a7f79190d4a9f" /><Relationship Type="http://schemas.openxmlformats.org/officeDocument/2006/relationships/notesMaster" Target="/ppt/notesMasters/notesMaster1.xml" Id="R0c11d22d214b43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917b53e4fb4ad2" /><Relationship Type="http://schemas.openxmlformats.org/officeDocument/2006/relationships/notesMaster" Target="/ppt/notesMasters/notesMaster1.xml" Id="Rf7c1793dcc7943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f1bacdf6504b65" /><Relationship Type="http://schemas.openxmlformats.org/officeDocument/2006/relationships/notesMaster" Target="/ppt/notesMasters/notesMaster1.xml" Id="Rf3b9d7bb76024c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54f2862cad4cbe" /><Relationship Type="http://schemas.openxmlformats.org/officeDocument/2006/relationships/notesMaster" Target="/ppt/notesMasters/notesMaster1.xml" Id="Rb17fe4f5d9bf4e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93fb999ba543a3" /><Relationship Type="http://schemas.openxmlformats.org/officeDocument/2006/relationships/notesMaster" Target="/ppt/notesMasters/notesMaster1.xml" Id="R591c33e1d50545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ca5cebf8454c62" /><Relationship Type="http://schemas.openxmlformats.org/officeDocument/2006/relationships/notesMaster" Target="/ppt/notesMasters/notesMaster1.xml" Id="R1c0dd5a0d65d4c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62b0efd93d48f6" /><Relationship Type="http://schemas.openxmlformats.org/officeDocument/2006/relationships/notesMaster" Target="/ppt/notesMasters/notesMaster1.xml" Id="R29e313f9895845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6859f418de4c3c" /><Relationship Type="http://schemas.openxmlformats.org/officeDocument/2006/relationships/notesMaster" Target="/ppt/notesMasters/notesMaster1.xml" Id="Rf08e5d2e12a04b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180b9bd9414abe" /><Relationship Type="http://schemas.openxmlformats.org/officeDocument/2006/relationships/notesMaster" Target="/ppt/notesMasters/notesMaster1.xml" Id="R27100c10efc440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b269f6ab9c41bb" /><Relationship Type="http://schemas.openxmlformats.org/officeDocument/2006/relationships/notesMaster" Target="/ppt/notesMasters/notesMaster1.xml" Id="Rb7d7366f851944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2277f1e160d4136" /><Relationship Type="http://schemas.openxmlformats.org/officeDocument/2006/relationships/notesMaster" Target="/ppt/notesMasters/notesMaster1.xml" Id="R75b2836aadc04d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2e9ad496944961" /><Relationship Type="http://schemas.openxmlformats.org/officeDocument/2006/relationships/notesMaster" Target="/ppt/notesMasters/notesMaster1.xml" Id="R5a6c995f548149a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aea9ed5c9146c6" /><Relationship Type="http://schemas.openxmlformats.org/officeDocument/2006/relationships/notesMaster" Target="/ppt/notesMasters/notesMaster1.xml" Id="Ree86c8562bd4465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c772a976a964b18" /><Relationship Type="http://schemas.openxmlformats.org/officeDocument/2006/relationships/notesMaster" Target="/ppt/notesMasters/notesMaster1.xml" Id="R2286ad719b6d47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6516b9b1d294b05" /><Relationship Type="http://schemas.openxmlformats.org/officeDocument/2006/relationships/notesMaster" Target="/ppt/notesMasters/notesMaster1.xml" Id="Re653d9c0d10e45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建议讲述时间：20秒。我们研究有限资源下的分阶段离轨，重点是能源调度和展开反馈。研究采用概念基准与公开设备参数对照。</a:t>
            </a:r>
          </a:p>
          <a:p xmlns:a="http://schemas.openxmlformats.org/drawingml/2006/main">
            <a:r>
              <a:t>来源：Reference/受控离轨_MATLAB仿真最终总方案.md，Reference/受控离轨_创新故事与论证主线.md。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建议讲述时间：35秒。</a:t>
            </a:r>
          </a:p>
          <a:p xmlns:a="http://schemas.openxmlformats.org/drawingml/2006/main">
            <a:r>
              <a:t>赛题允许大气阻力辅助，但受控离轨方向不能完全依赖大气阻力。我们选择代表性场景，不声称覆盖所有低轨任务。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来源：赛事规则PDF第6页，Reference/受控离轨_创新故事与论证主线.md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建议讲述时间：40秒。</a:t>
            </a:r>
          </a:p>
          <a:p xmlns:a="http://schemas.openxmlformats.org/drawingml/2006/main">
            <a:r>
              <a:t>明确三个不同的高度定义。500 km窗口退出是事后代理指标，不能表示碰撞概率。120 km只是积分终点。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来源：Coding/config/baseline_case.m，Coding/docs/主案例说明与系统图.md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建议讲述时间：45秒。</a:t>
            </a:r>
          </a:p>
          <a:p xmlns:a="http://schemas.openxmlformats.org/drawingml/2006/main">
            <a:r>
              <a:t>图中实际面积由环境模型决定，只通过反馈进入控制器。控制器不能偷看隐藏真实面积。能源模型给出可用资源，决策改变推力和机构动作。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来源：Coding/src/propagation/propagateCase.m，Coding/src/control/deploymentState.m，Coding/docs/主案例说明与系统图.md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建议讲述时间：40秒。</a:t>
            </a:r>
          </a:p>
          <a:p xmlns:a="http://schemas.openxmlformats.org/drawingml/2006/main">
            <a:r>
              <a:t>主案例A2_NORMAL_120。参数分成团队场景、概念工作点与过程假设。650 W是向阳可用功率，不是全天恒定发电。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来源：Coding/config/baseline_case.m，Coding/config/powerScenario.m，Coding/config/engineering_budget_candidate.csv，Coding/config/experiment_matrix.m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建议讲述时间：40秒。</a:t>
            </a:r>
          </a:p>
          <a:p xmlns:a="http://schemas.openxmlformats.org/drawingml/2006/main">
            <a:r>
              <a:t>双层方法避免虚构完整设备组合。BHT-200的200 W是放电功率，不得直接移植到整星供电模型。贡献限定为场景下的控制及证据组织。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来源：Coding/docs/资料核对与工程补证报告.md，Busek BHT-200 datasheet https://www.busek.com/s/BHT_200_v10.pdf 第1页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建议讲述时间：40秒。</a:t>
            </a:r>
          </a:p>
          <a:p xmlns:a="http://schemas.openxmlformats.org/drawingml/2006/main">
            <a:r>
              <a:t>这一页是早期固定策略基准，四者同质量同初态。不能将8.89天与当前9.83天直接解释为展开延迟效果。B0删失，不能填365天完成。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来源：Coding/results/run_20260930_132433_258/tables/baselines_summary.csv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建议讲述时间：45秒。</a:t>
            </a:r>
          </a:p>
          <a:p xmlns:a="http://schemas.openxmlformats.org/drawingml/2006/main">
            <a:r>
              <a:t>650 W同一账本下，留更多电量带来时间代价。10%是团队候选演示设置，不称最优。保护线60 Wh。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来源：Coding/results/current_20260930_200345_605/a1/tables/power_a1_summary.csv，power_a1_resources.csv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建议讲述时间：40秒。</a:t>
            </a:r>
          </a:p>
          <a:p xmlns:a="http://schemas.openxmlformats.org/drawingml/2006/main">
            <a:r>
              <a:t>这是同电池同负载的A1对照。旧调度约1.08小时缺供，新调度减少点火换取完成。不要混用更早power组不同等待负载下的2.53小时。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来源：Coding/results/current_20260930_200345_605/a1/tables/power_a1_summary.csv，power_a1_resources.csv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建议讲述时间：45秒。</a:t>
            </a:r>
          </a:p>
          <a:p xmlns:a="http://schemas.openxmlformats.org/drawingml/2006/main">
            <a:r>
              <a:t>展开前检查完整动作所需能源，展开期间停推。机构工作120秒，额外30 W耗1 Wh，全部240 W耗8 Wh。反馈到130秒才到。未知超时不推断为零面积。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来源：Coding/src/control/deploymentState.m，Coding/src/control/canStartDeployment.m，Coding/results/current_20260930_200345_605/a2/tables/A2_NORMAL_120_events.csv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建议讲述时间：40秒。</a:t>
            </a:r>
          </a:p>
          <a:p xmlns:a="http://schemas.openxmlformats.org/drawingml/2006/main">
            <a:r>
              <a:t>主案例A2_NORMAL_120。与同供电的理想A2_IDEAL比约晚69秒，不是拿原P作展开延迟对照。最低电量79.96 Wh，无基础缺供。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来源：Coding/results/current_20260930_200345_605/a2/tables/deployment_summary.csv，deployment_resources.csv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建议讲述时间：45秒。</a:t>
            </a:r>
          </a:p>
          <a:p xmlns:a="http://schemas.openxmlformats.org/drawingml/2006/main">
            <a:r>
              <a:t>半展开更快因为继续补推，燃料更高。两个无反馈案例控制都停推，但实际面积不同导致天数大幅不同。不能用成功到达证明控制器已经知道实际状态。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来源：Coding/results/current_20260930_200345_605/a2/tables/deployment_summary.csv，deployment_audit.csv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建议讲述时间：40秒。</a:t>
            </a:r>
          </a:p>
          <a:p xmlns:a="http://schemas.openxmlformats.org/drawingml/2006/main">
            <a:r>
              <a:t>只比较预先确认的中等研究情景：功率-10%、容量-10%、初始80%降至70%、公共负载+10%。不是概率分布。四情景都无基础缺供。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来源：Coding/results/u1_20260930_211336_825/tables/uncertainty_summary.csv，uncertainty_resources.csv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建议讲述时间：45秒。</a:t>
            </a:r>
          </a:p>
          <a:p xmlns:a="http://schemas.openxmlformats.org/drawingml/2006/main">
            <a:r>
              <a:t>组合585 W、270 Wh、初始70%、公共负载+10%，其余不变。最低电量70.56 Wh，保护54 Wh，无缺供。不能简单加单因素延迟，也不是最大承受边界。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来源：Coding/results/u2_20260930_213741_686/tables/uncertainty_summary.csv，uncertainty_resources.csv，resolution_check.csv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建议讲述时间：45秒。</a:t>
            </a:r>
          </a:p>
          <a:p xmlns:a="http://schemas.openxmlformats.org/drawingml/2006/main">
            <a:r>
              <a:t>19项是当前模块测试数量。分辨率对照为A1两项、A2三项、U1四项、U2一项，共10项，不是每个案例都细算。讲一次真实失败：控制频率与计算步长耦合。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来源：Coding/tests/run_tests.m，项目更改.md，A1/A2/U1/U2各组审计及resolution_check.csv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建议讲述时间：35秒。</a:t>
            </a:r>
          </a:p>
          <a:p xmlns:a="http://schemas.openxmlformats.org/drawingml/2006/main">
            <a:r>
              <a:t>结束主讲。突出资源约束与未知反馈的可检查控制。后续重点为实际独立复现和真实资料，避免继续堆正常成功曲线。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来源：Coding/docs/最终证据总表.md，Coding/docs/中等不利组合检查_U2.md，Coding/docs/跨机复现说明.md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建议讲述时间：0秒。</a:t>
            </a:r>
          </a:p>
          <a:p xmlns:a="http://schemas.openxmlformats.org/drawingml/2006/main">
            <a:r>
              <a:t>被问详细输入时使用。先解释物理意义，再说明研究假设。不要将这些数字称为已采购设备参数。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来源：Coding/config/baseline_case.m，Coding/config/powerScenario.m，Coding/config/experiment_matrix.m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建议讲述时间：0秒。</a:t>
            </a:r>
          </a:p>
          <a:p xmlns:a="http://schemas.openxmlformats.org/drawingml/2006/main">
            <a:r>
              <a:t>大气是数值比对，尚有单位注释和高度口径问题。BHT-200是独立工作点，不是主方案完整选型。NASA已有帆任务不能移植其卫星天数。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来源：Coding/docs/资料核对与工程补证报告.md，https://celestrak.org/software/vallado-sw.php，https://www.busek.com/s/BHT_200_v10.pdf，https://www.nasa.gov/smallsat-institute/sst-soa/deorbit-systems/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建议讲述时间：0秒。</a:t>
            </a:r>
          </a:p>
          <a:p xmlns:a="http://schemas.openxmlformats.org/drawingml/2006/main">
            <a:r>
              <a:t>先直接回答，再指向具体图表。回答不能超过证据，创新性不足或硬件未知要明确承认。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来源：Coding/docs/评委答辩问答稿_当前版.md，Coding/docs/最终证据总表.md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建议讲述时间：0秒。</a:t>
            </a:r>
          </a:p>
          <a:p xmlns:a="http://schemas.openxmlformats.org/drawingml/2006/main">
            <a:r>
              <a:t>此页用于技术追问，不必在正文逐项念。另一台机器尚未运行。当前24案例参考由已验证分组汇集，不能冒称新增全链一次重跑。团队应如实说明AI辅助并遵守赛事原创要求。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来源：Coding/docs/跨机复现说明.md，Coding/docs/最终证据总表.md，Coding/docs/defense_evidence/source_manifest.json</a:t>
            </a:r>
          </a:p>
          <a:p xmlns:a="http://schemas.openxmlformats.org/drawingml/2006/main">
            <a:r>
              <a:t>数据均为指定模型与候选输入下结果，非飞行认证。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3c64bbb10345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983fa986ff4880" /><Relationship Type="http://schemas.openxmlformats.org/officeDocument/2006/relationships/slideLayout" Target="/ppt/slideLayouts/slideLayout1.xml" Id="Rbb0d9cfd73d440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d9cfd73d440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ff3130e1a4e73" /><Relationship Type="http://schemas.openxmlformats.org/officeDocument/2006/relationships/notesSlide" Target="/ppt/notesSlides/notesSlide1.xml" Id="R4055062137a74a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9f3ca3cf545f3" /><Relationship Type="http://schemas.openxmlformats.org/officeDocument/2006/relationships/notesSlide" Target="/ppt/notesSlides/notesSlide2.xml" Id="Rfff19aaaa88a4e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c1486400649a5" /><Relationship Type="http://schemas.openxmlformats.org/officeDocument/2006/relationships/notesSlide" Target="/ppt/notesSlides/notesSlide3.xml" Id="Rbd87e006397c42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7346de06444c6" /><Relationship Type="http://schemas.openxmlformats.org/officeDocument/2006/relationships/notesSlide" Target="/ppt/notesSlides/notesSlide4.xml" Id="Rb3ea05a0a34649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f9926b62c4da8" /><Relationship Type="http://schemas.openxmlformats.org/officeDocument/2006/relationships/notesSlide" Target="/ppt/notesSlides/notesSlide5.xml" Id="R2306dfa9e5aa4f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d709c63b845ad" /><Relationship Type="http://schemas.openxmlformats.org/officeDocument/2006/relationships/notesSlide" Target="/ppt/notesSlides/notesSlide6.xml" Id="Rca6f2dda42014b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72c9707344283" /><Relationship Type="http://schemas.openxmlformats.org/officeDocument/2006/relationships/notesSlide" Target="/ppt/notesSlides/notesSlide7.xml" Id="Rac71c226d5b14e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3e4c8d29f4811" /><Relationship Type="http://schemas.openxmlformats.org/officeDocument/2006/relationships/chart" Target="/ppt/slides/charts/chart1.xml" Id="R6d12358f8cc54b88" /><Relationship Type="http://schemas.openxmlformats.org/officeDocument/2006/relationships/notesSlide" Target="/ppt/notesSlides/notesSlide8.xml" Id="R5511fa6c0df348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8f19be0ad4917" /><Relationship Type="http://schemas.openxmlformats.org/officeDocument/2006/relationships/notesSlide" Target="/ppt/notesSlides/notesSlide9.xml" Id="R2412f2a17cc84f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a17e701d04ccc" /><Relationship Type="http://schemas.openxmlformats.org/officeDocument/2006/relationships/notesSlide" Target="/ppt/notesSlides/notesSlide10.xml" Id="R6785e9d2a1fe42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d3771a4334d28" /><Relationship Type="http://schemas.openxmlformats.org/officeDocument/2006/relationships/notesSlide" Target="/ppt/notesSlides/notesSlide11.xml" Id="R196767a3971846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fe17581fd4863" /><Relationship Type="http://schemas.openxmlformats.org/officeDocument/2006/relationships/notesSlide" Target="/ppt/notesSlides/notesSlide12.xml" Id="R3b58b86ff3ff43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99ac1fc9c4467" /><Relationship Type="http://schemas.openxmlformats.org/officeDocument/2006/relationships/chart" Target="/ppt/slides/charts/chart2.xml" Id="Rc7c09f8cca504686" /><Relationship Type="http://schemas.openxmlformats.org/officeDocument/2006/relationships/notesSlide" Target="/ppt/notesSlides/notesSlide13.xml" Id="Recd3e1913cdd41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8a60932384f7f" /><Relationship Type="http://schemas.openxmlformats.org/officeDocument/2006/relationships/chart" Target="/ppt/slides/charts/chart3.xml" Id="R358be48ebd364dd4" /><Relationship Type="http://schemas.openxmlformats.org/officeDocument/2006/relationships/notesSlide" Target="/ppt/notesSlides/notesSlide14.xml" Id="R89ed4d66eb1043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425fe0d0d42b0" /><Relationship Type="http://schemas.openxmlformats.org/officeDocument/2006/relationships/notesSlide" Target="/ppt/notesSlides/notesSlide15.xml" Id="Rc60bc2d18b014d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cb25759de4a30" /><Relationship Type="http://schemas.openxmlformats.org/officeDocument/2006/relationships/notesSlide" Target="/ppt/notesSlides/notesSlide16.xml" Id="R20904468a5344e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c93d7c1a54623" /><Relationship Type="http://schemas.openxmlformats.org/officeDocument/2006/relationships/notesSlide" Target="/ppt/notesSlides/notesSlide17.xml" Id="R07c7e231ab1f4c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5b111da229439d" /><Relationship Type="http://schemas.openxmlformats.org/officeDocument/2006/relationships/notesSlide" Target="/ppt/notesSlides/notesSlide18.xml" Id="Ra17a259dbef748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9d663f6ca44b2" /><Relationship Type="http://schemas.openxmlformats.org/officeDocument/2006/relationships/notesSlide" Target="/ppt/notesSlides/notesSlide19.xml" Id="R0c8c534371e5479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2984b93bf481f" /><Relationship Type="http://schemas.openxmlformats.org/officeDocument/2006/relationships/notesSlide" Target="/ppt/notesSlides/notesSlide20.xml" Id="R3230dc0fae7243a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到120 km / 天</c:v>
          </c:tx>
          <c:spPr>
            <a:solidFill xmlns:a="http://schemas.openxmlformats.org/drawingml/2006/main">
              <a:srgbClr val="246BA0"/>
            </a:solidFill>
          </c:spPr>
          <c:cat>
            <c:strRef>
              <c:f>'Chart Data'!$A$2:$A$4</c:f>
              <c:strCache>
                <c:ptCount val="3"/>
                <c:pt idx="0">
                  <c:v>0%</c:v>
                </c:pt>
                <c:pt idx="1">
                  <c:v>10%</c:v>
                </c:pt>
                <c:pt idx="2">
                  <c:v>20%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9.78446014664912</c:v>
                </c:pt>
                <c:pt idx="1">
                  <c:v>9.83166502187344</c:v>
                </c:pt>
                <c:pt idx="2">
                  <c:v>10.2097418721806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8334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878"/>
                    </a:solidFill>
                    <a:latin typeface="Microsoft YaHei"/>
                    <a:ea typeface="Microsoft YaHei"/>
                    <a:cs typeface="Microsoft YaHei"/>
                  </a:rPr>
                  <a:t>到120 km / 天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8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A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A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到120 km / 天</c:v>
          </c:tx>
          <c:spPr>
            <a:solidFill xmlns:a="http://schemas.openxmlformats.org/drawingml/2006/main">
              <a:srgbClr val="246BA0"/>
            </a:solidFill>
          </c:spPr>
          <c:cat>
            <c:strRef>
              <c:f>'Chart Data'!$A$2:$A$6</c:f>
              <c:strCache>
                <c:ptCount val="5"/>
                <c:pt idx="0">
                  <c:v>基准</c:v>
                </c:pt>
                <c:pt idx="1">
                  <c:v>585 W</c:v>
                </c:pt>
                <c:pt idx="2">
                  <c:v>270 Wh</c:v>
                </c:pt>
                <c:pt idx="3">
                  <c:v>初始70%</c:v>
                </c:pt>
                <c:pt idx="4">
                  <c:v>负载+10%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9.83245982646045</c:v>
                </c:pt>
                <c:pt idx="1">
                  <c:v>11.5262844791195</c:v>
                </c:pt>
                <c:pt idx="2">
                  <c:v>10.4039107270614</c:v>
                </c:pt>
                <c:pt idx="3">
                  <c:v>9.84441652810113</c:v>
                </c:pt>
                <c:pt idx="4">
                  <c:v>10.5248399260054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8334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878"/>
                    </a:solidFill>
                    <a:latin typeface="Microsoft YaHei"/>
                    <a:ea typeface="Microsoft YaHei"/>
                    <a:cs typeface="Microsoft YaHei"/>
                  </a:rPr>
                  <a:t>到120 km / 天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8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A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A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到120 km / 天</c:v>
          </c:tx>
          <c:spPr>
            <a:solidFill xmlns:a="http://schemas.openxmlformats.org/drawingml/2006/main">
              <a:srgbClr val="246BA0"/>
            </a:solidFill>
          </c:spPr>
          <c:cat>
            <c:strRef>
              <c:f>'Chart Data'!$A$2:$A$3</c:f>
              <c:strCache>
                <c:ptCount val="2"/>
                <c:pt idx="0">
                  <c:v>主案例</c:v>
                </c:pt>
                <c:pt idx="1">
                  <c:v>中等不利组合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9.83245982646045</c:v>
                </c:pt>
                <c:pt idx="1">
                  <c:v>13.3398423561275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8334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2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878"/>
                    </a:solidFill>
                    <a:latin typeface="Microsoft YaHei"/>
                    <a:ea typeface="Microsoft YaHei"/>
                    <a:cs typeface="Microsoft YaHei"/>
                  </a:rPr>
                  <a:t>到120 km / 天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8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A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A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EA43A-EF05-48D1-9183-C0F6EFBB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572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固定阻力帆与低推力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协同离轨仿真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3DAEE-8612-45E3-B8B8-7BA1878F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91477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DE5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BDE5EA"/>
                </a:solidFill>
                <a:latin typeface="Microsoft YaHei"/>
                <a:ea typeface="Microsoft YaHei"/>
                <a:cs typeface="Microsoft YaHei"/>
              </a:rPr>
              <a:t>资源约束与展开反馈下的控制策略研究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84F5E-3D55-4ED3-8EA6-178753A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7E4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7E4ED"/>
                </a:solidFill>
                <a:latin typeface="Microsoft YaHei"/>
                <a:ea typeface="Microsoft YaHei"/>
                <a:cs typeface="Microsoft YaHei"/>
              </a:rPr>
              <a:t>主题二 · 受控离轨</a:t>
            </a:r>
          </a:p>
        </p:txBody>
      </p:sp>
    </p:spTree>
    <p:extLst>
      <p:ext uri="{BB962C8B-B14F-4D97-AF65-F5344CB8AC3E}">
        <p14:creationId xmlns:p14="http://schemas.microsoft.com/office/powerpoint/2010/main" val="1982365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C740A-4308-4C2E-931B-2EF6E5BE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研究场景与问题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210F9-DB08-48B2-814E-660325DD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EC160-72DA-4DBE-AEC2-1AF7EADF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457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550 km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EE294-5508-4834-8E0E-621E63A3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4810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代表卫星初始近圆轨道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7F661-766C-40A6-9959-5AD8A796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590675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50 kg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19092-ED20-4161-9CAB-CCB67396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955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包含推进与帆装置的假想卫星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9AF7F-44E7-4FB0-97D1-3EB54E39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90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为什么先主动降轨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5C320-7111-4BE3-845E-DB42B824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高空阻力较弱。主动推进建立降轨进度，但需要燃料和电力。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9E1A3-A441-45F8-A149-3978E3D9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290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为什么再交给阻力帆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AA97B-8CFE-44EF-ADAB-111A0BB5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814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较低轨道的大气阻力更强。展开帆可减少后续主动资源消耗。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745F1-8B7B-4316-A4D2-6BBEA58F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研究问题：怎样安排交接，并在供电不足或展开反馈异常时正确响应？</a:t>
            </a:r>
          </a:p>
        </p:txBody>
      </p:sp>
    </p:spTree>
    <p:extLst>
      <p:ext uri="{BB962C8B-B14F-4D97-AF65-F5344CB8AC3E}">
        <p14:creationId xmlns:p14="http://schemas.microsoft.com/office/powerpoint/2010/main" val="1456039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BFDC1-17C5-45E6-9BF1-8073E286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任务指标与研究边界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3C7D1-923B-401E-B6CD-97E9217C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162425"/>
                <a:gridCol w="4333875"/>
              </a:tblGrid>
              <a:tr h="781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本项目定义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解释边界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原窗口退出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500–600 km窗口的最后退出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不等于全过程碰撞风险降低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策略切换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瞬时密切半长轴下穿350 km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不代表整圈都低于350 km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轨道段终点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瞬时地心高度下降穿过120 km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不证明烧毁或落区安全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计算上限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365天，未发生事件保留缺失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不是比赛规定的完成期限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5ABA9-19F6-4C77-94B5-C3A217AE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所有时间均从退役指令起算，另报推进剂、点火时长和电量。</a:t>
            </a:r>
          </a:p>
        </p:txBody>
      </p:sp>
    </p:spTree>
    <p:extLst>
      <p:ext uri="{BB962C8B-B14F-4D97-AF65-F5344CB8AC3E}">
        <p14:creationId xmlns:p14="http://schemas.microsoft.com/office/powerpoint/2010/main" val="20748394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10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10072688" y="295275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tailEnd type="arrow" w="med" len="med"/>
          </a:ln>
        </p:spPr>
      </p:cxnSp>
      <p:cxnSp>
        <p:nvCxnSpPr>
          <p:cNvPr id="16" name=""/>
          <p:cNvCxnSpPr>
            <a:stCxn xmlns:a="http://schemas.openxmlformats.org/drawingml/2006/main" id="9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6096000" y="295275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76625" y="43815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38125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tailEnd type="arrow" w="med" len="med"/>
          </a:ln>
        </p:spPr>
      </p:cxnSp>
      <p:cxnSp>
        <p:nvCxnSpPr>
          <p:cNvPr id="1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76625" y="238125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E8B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AA7C2-EEAF-4C13-87B0-84569B40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物理状态与控制观测分开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CA6C1-1662-4A8A-90D4-06CAF870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E6E12-FE8A-45F4-B1C3-81E432E6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14288">
            <a:solidFill>
              <a:srgbClr val="246BA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轨道与环境模型</a:t>
            </a:r>
          </a:p>
          <a:p xmlns:a="http://schemas.openxmlformats.org/drawingml/2006/main">
            <a:pPr algn="ctr">
              <a:def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位置、速度、燃料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B63E0-DBF2-43C8-9910-BC1B8D2A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09750"/>
            <a:ext cx="2762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14288">
            <a:solidFill>
              <a:srgbClr val="246BA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模拟观测</a:t>
            </a:r>
          </a:p>
          <a:p xmlns:a="http://schemas.openxmlformats.org/drawingml/2006/main">
            <a:pPr algn="ctr">
              <a:def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许可、健康与反馈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D95DD-AD13-429D-86E8-8A5DE5C9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09750"/>
            <a:ext cx="2714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14288">
            <a:solidFill>
              <a:srgbClr val="246BA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监督控制</a:t>
            </a:r>
          </a:p>
          <a:p xmlns:a="http://schemas.openxmlformats.org/drawingml/2006/main">
            <a:pPr algn="ctr">
              <a:def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推进、展帆与等待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871B1-D69D-4034-90DE-88308964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14288">
            <a:solidFill>
              <a:srgbClr val="246BA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实际展开进度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A049C1-F604-4B66-853C-C991332E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62400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14288">
            <a:solidFill>
              <a:srgbClr val="246BA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反馈延迟或丢失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0E0034-172E-4168-9C43-8BAB2050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62400"/>
            <a:ext cx="2714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14288">
            <a:solidFill>
              <a:srgbClr val="246BA0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电池与模式负载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7CF54-A7B1-4F44-A1D0-07204157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实际面积影响阻力。未知反馈保持未知，不能直接推断为“没有展开”。</a:t>
            </a:r>
          </a:p>
        </p:txBody>
      </p:sp>
    </p:spTree>
    <p:extLst>
      <p:ext uri="{BB962C8B-B14F-4D97-AF65-F5344CB8AC3E}">
        <p14:creationId xmlns:p14="http://schemas.microsoft.com/office/powerpoint/2010/main" val="743655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77CBD-E59F-4582-8E09-AB57AAD5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当前主案例的参数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E4247-99C8-441B-9F0A-993E2667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4981575"/>
                <a:gridCol w="3876675"/>
              </a:tblGrid>
              <a:tr h="781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主案例设定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性质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推进与帆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mN，1200 s，0.8 kg，新增10 m²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概念工作点与有效面积假设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电源与电池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向阳650 W，300 Wh，初始80%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候选能源模型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能源控制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保护线20%，额外阴影预留10%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已确认演示设置，非最优证明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展开与反馈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120秒展开，10秒确认，600秒超时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研究时序，非机构实测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0C160-7991-4A77-98CE-53DCD457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模式负载来自同一账本：推进560 W、等待230 W、帆监测215 W、展开240 W。</a:t>
            </a:r>
          </a:p>
        </p:txBody>
      </p:sp>
    </p:spTree>
    <p:extLst>
      <p:ext uri="{BB962C8B-B14F-4D97-AF65-F5344CB8AC3E}">
        <p14:creationId xmlns:p14="http://schemas.microsoft.com/office/powerpoint/2010/main" val="126739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B41FB-DACA-4F93-BFC5-A8036A2D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概念基准与设备参数对照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5B3DC-029C-4B1E-B0E7-44926A3D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2D9DF-40EA-46FD-9E2C-072B5D34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概念基准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1B76B-93CE-4F75-B159-BECD4082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200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统一卫星与环境条件，比较推进、展帆和资源调度的作用。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430A7-3843-4C20-A2DC-0CE007C4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1450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公开设备参数对照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2FCF2-551C-4C99-A35B-B0ED51FD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5162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BHT-200推力13 mN、比冲1390秒。</a:t>
            </a:r>
          </a:p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独立案例检查结论对工作点的依赖。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4A10A-2BB5-4CF4-A9B1-461EA6A1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95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可验证的工作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0FF1B-16F0-4636-A5C1-DC569E29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476750"/>
            <a:ext cx="106680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阶段交接的时间与燃料取舍</a:t>
            </a:r>
          </a:p>
          <a:p xmlns:a="http://schemas.openxmlformats.org/drawingml/2006/main">
            <a:pPr>
              <a:defRPr sz="217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提前留电对缺供的影响</a:t>
            </a:r>
          </a:p>
          <a:p xmlns:a="http://schemas.openxmlformats.org/drawingml/2006/main">
            <a:pPr>
              <a:defRPr sz="217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展开反馈未知时的可审查响应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7BFBC-1CC1-4BD2-9687-A5F1C5B5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完整配套质量、总输入功率和真实姿态尚未认证。不宣称新推进原理或全球首次。</a:t>
            </a:r>
          </a:p>
        </p:txBody>
      </p:sp>
    </p:spTree>
    <p:extLst>
      <p:ext uri="{BB962C8B-B14F-4D97-AF65-F5344CB8AC3E}">
        <p14:creationId xmlns:p14="http://schemas.microsoft.com/office/powerpoint/2010/main" val="13922170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CB524-D116-4DC2-BE83-6A52A368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基础四策略比较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3DFBD-BAD2-4A7A-9CFC-9D907252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07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876675"/>
                <a:gridCol w="3524250"/>
                <a:gridCol w="2047875"/>
              </a:tblGrid>
              <a:tr h="7810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到120 km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推进剂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不推进、不展帆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365天内未观测到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B1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立即展帆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89.93天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kg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仅低推力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10.91天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0.800 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先推进，后展帆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8.89天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0.444 kg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6EFF2-6460-4B11-AAAD-832E19F8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本页为固定策略基准。后续A1/A2加入不同供电与过程约束，不能跨组单因素归因。</a:t>
            </a:r>
          </a:p>
        </p:txBody>
      </p:sp>
    </p:spTree>
    <p:extLst>
      <p:ext uri="{BB962C8B-B14F-4D97-AF65-F5344CB8AC3E}">
        <p14:creationId xmlns:p14="http://schemas.microsoft.com/office/powerpoint/2010/main" val="4981351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740F9-E7C7-4ABF-A9FF-1C5117BB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提前留电的时间代价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33645-B04A-4552-8901-31F94B01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64770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12358f8cc54b8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6EE1D-8FD6-475D-8B54-DE972BC9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95475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最低电量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E787F-3ED6-4642-957A-9286C24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67000"/>
            <a:ext cx="3476625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0%     60.18 Wh</a:t>
            </a:r>
          </a:p>
          <a:p xmlns:a="http://schemas.openxmlformats.org/drawingml/2006/main">
            <a:pPr>
              <a:defRPr sz="217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10%   79.96 Wh</a:t>
            </a:r>
          </a:p>
          <a:p xmlns:a="http://schemas.openxmlformats.org/drawingml/2006/main">
            <a:pPr>
              <a:defRPr sz="217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20%   92.18 Wh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1DDE7-8C5D-4BE8-B5F3-6F59C356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86300"/>
            <a:ext cx="3524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10%相对0%</a:t>
            </a:r>
          </a:p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约多1.1小时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256E5-F1C2-4E3B-9709-F6638748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0%也预留阴影基础用电，只是不额外留余量。全部为650 W研究情景。</a:t>
            </a:r>
          </a:p>
        </p:txBody>
      </p:sp>
    </p:spTree>
    <p:extLst>
      <p:ext uri="{BB962C8B-B14F-4D97-AF65-F5344CB8AC3E}">
        <p14:creationId xmlns:p14="http://schemas.microsoft.com/office/powerpoint/2010/main" val="1864218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BC192-32AC-4F37-9025-8B79457C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500 W下，调度改变了结果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4FA37-763E-44B4-92E7-20D4631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09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4714875"/>
                <a:gridCol w="2257425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最低电量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旧调度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约1.08小时后基础缺供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60.00 Wh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提前留电＋0%额外余量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23.15天到120 km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62.77 Wh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提前留电＋10%额外余量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28.46天到120 km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81.10 Wh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提前留电＋20%额外余量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33.98天到120 km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93.32 Wh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393A2-AD90-4042-A10F-F236218A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失败记录保留。时间更长、点火机会更少，是保电策略的实际代价。</a:t>
            </a:r>
          </a:p>
        </p:txBody>
      </p:sp>
    </p:spTree>
    <p:extLst>
      <p:ext uri="{BB962C8B-B14F-4D97-AF65-F5344CB8AC3E}">
        <p14:creationId xmlns:p14="http://schemas.microsoft.com/office/powerpoint/2010/main" val="8905662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681BE-6DC6-4068-8714-5AE2F230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展帆过程与确认规则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CFDAE-8314-44FD-9AD2-CEAFAEEF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7925"/>
                <a:gridCol w="4171950"/>
                <a:gridCol w="4352925"/>
              </a:tblGrid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时刻或状态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实际过程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控制响应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发令前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核对功率与完成动作所需电量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不足则等待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0–120秒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面积按模拟进度增加，机构耗电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停推，单次发令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120–130秒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机构停止，等待反馈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保持未知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收到反馈 / 600秒无反馈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确认完整、部分、失败 / 超时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按反馈响应 / 未知停推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97B25-9F7C-4908-9DD5-3DD5ACA1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展开时序是研究假设。另做60/300秒与完成前不计面积的对照。</a:t>
            </a:r>
          </a:p>
        </p:txBody>
      </p:sp>
    </p:spTree>
    <p:extLst>
      <p:ext uri="{BB962C8B-B14F-4D97-AF65-F5344CB8AC3E}">
        <p14:creationId xmlns:p14="http://schemas.microsoft.com/office/powerpoint/2010/main" val="15619932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FD20C-598A-4D0C-AF94-787059E5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主案例：9.83天到达120 km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17C21-C907-4A9C-967E-AC515813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4E33C-A7CB-434E-A25E-E17ED07B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9.83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4E0B6-29A9-42C0-A4B8-B339151D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天，到120 km计算界面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127C2-2D31-4D94-A496-6642D56A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0.442 kg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E35FF-D7E9-4DCB-B635-DC6FE8D2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60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推进剂消耗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413CA-A5F9-45AE-8E56-0BC18B9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67125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79.96 Wh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D7E32-6126-453B-8844-377F3C90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43425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最低电池电量，保护线60 Wh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13964-1748-4451-B91B-73C7017E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590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相比同条件瞬时展开基准</a:t>
            </a:r>
          </a:p>
          <a:p xmlns:a="http://schemas.openxmlformats.org/drawingml/2006/main">
            <a:pPr>
              <a:defRPr sz="23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仅晚约69秒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7B361-A78C-4B00-A6F9-F4C271F2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候选输入下的模型结果。窗口退出约3.22天，展开机构额外耗电1 Wh。</a:t>
            </a:r>
          </a:p>
        </p:txBody>
      </p:sp>
    </p:spTree>
    <p:extLst>
      <p:ext uri="{BB962C8B-B14F-4D97-AF65-F5344CB8AC3E}">
        <p14:creationId xmlns:p14="http://schemas.microsoft.com/office/powerpoint/2010/main" val="16360914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5EB4B-CEDA-49E9-85F5-F59DAF87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反馈未知时，实际面积决定后续轨道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795BF-1387-4DC2-A322-06CA9AFC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886075"/>
                <a:gridCol w="2000250"/>
                <a:gridCol w="1990725"/>
              </a:tblGrid>
              <a:tr h="7810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展开与反馈情景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控制动作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到120 km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燃料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明确半展开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资源允许时补推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9.45天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0.595 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明确展开失败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资源允许时补推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12.51天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0.790 kg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实际全展，反馈丢失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未知，保持停推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9.83天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0.442 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实际未展，反馈丢失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未知，保持停推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66.32天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0.442 kg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ABE51-D723-4B60-8C80-62BF8B3B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故障案例更快可能来自更多燃料投入。补推的真实机构/姿态干涉仍未验证。</a:t>
            </a:r>
          </a:p>
        </p:txBody>
      </p:sp>
    </p:spTree>
    <p:extLst>
      <p:ext uri="{BB962C8B-B14F-4D97-AF65-F5344CB8AC3E}">
        <p14:creationId xmlns:p14="http://schemas.microsoft.com/office/powerpoint/2010/main" val="4109338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66373-2DB0-4809-812D-D0D2DB7A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中等单因素变化的时间影响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EA094-9DCF-4C76-A076-DE85AB5A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13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8105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c09f8cca50468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E2EA7-D011-41B5-814B-54CCB92C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2882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本组影响最大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50670-45B9-4936-8FFE-0BCB29D4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90850"/>
            <a:ext cx="27146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向阳功率下降10%</a:t>
            </a:r>
          </a:p>
          <a:p xmlns:a="http://schemas.openxmlformats.org/drawingml/2006/main">
            <a:pPr>
              <a:def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增加约1.69天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1BD3E-C575-4435-9292-BE153D46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686300"/>
            <a:ext cx="2714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四项分别通过</a:t>
            </a:r>
          </a:p>
          <a:p xmlns:a="http://schemas.openxmlformats.org/drawingml/2006/main">
            <a:pPr>
              <a:defRPr sz="195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不代表同时通过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B2A6A-2A9E-4733-BEE1-6E2A411B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容量变化时保护线也变化。比较电量安全性应看“距保护线余量”。</a:t>
            </a:r>
          </a:p>
        </p:txBody>
      </p:sp>
    </p:spTree>
    <p:extLst>
      <p:ext uri="{BB962C8B-B14F-4D97-AF65-F5344CB8AC3E}">
        <p14:creationId xmlns:p14="http://schemas.microsoft.com/office/powerpoint/2010/main" val="211805108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D1A6F-5421-4694-96AA-50AD560F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中等不利组合仍完成，时间增加35.7%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85D3C-F273-4AB6-BCDC-4C4C542A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14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66675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8be48ebd364dd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79AE7-0D20-4FCF-97C2-81F2BC68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022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组合条件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FEACF-A67A-4963-894B-BF6550F0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476500"/>
            <a:ext cx="3619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585 W向阳功率</a:t>
            </a:r>
          </a:p>
          <a:p xmlns:a="http://schemas.openxmlformats.org/drawingml/2006/main">
            <a:pPr>
              <a:def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270 Wh电池容量</a:t>
            </a:r>
          </a:p>
          <a:p xmlns:a="http://schemas.openxmlformats.org/drawingml/2006/main">
            <a:pPr>
              <a:def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初始电量70%</a:t>
            </a:r>
          </a:p>
          <a:p xmlns:a="http://schemas.openxmlformats.org/drawingml/2006/main">
            <a:pPr>
              <a:def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公共负载增加10%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DAE22-9E58-4502-94A2-BEA9778C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667250"/>
            <a:ext cx="37147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无基础缺供</a:t>
            </a:r>
          </a:p>
          <a:p xmlns:a="http://schemas.openxmlformats.org/drawingml/2006/main">
            <a:pPr>
              <a:def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保护线余量约16.56 Wh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1B4F8-EC59-4496-91F8-E2617049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时间增加约3.51天。该点通过不代表真实可靠性、最坏工况或失效边界。</a:t>
            </a:r>
          </a:p>
        </p:txBody>
      </p:sp>
    </p:spTree>
    <p:extLst>
      <p:ext uri="{BB962C8B-B14F-4D97-AF65-F5344CB8AC3E}">
        <p14:creationId xmlns:p14="http://schemas.microsoft.com/office/powerpoint/2010/main" val="18213133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58E2A-3BD3-4287-9665-68C2543E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验证证据与真实试错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F5314-A026-4194-A85C-ADA4F529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15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8001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检查层次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已有证据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基础与控制逻辑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19项回归测试通过记录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能量、燃料与事件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四组独立审计通过，失败案例保留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计算间隔影响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10项关键对照通过，判据事先固定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一次真实修正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A1计算步长曾改变控制频率，分离后复验通过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F1A16-C66D-40DD-86FF-25A41511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测试通过说明所检实现与数值表现符合要求，物理适用性和硬件认证仍需独立证据。</a:t>
            </a:r>
          </a:p>
        </p:txBody>
      </p:sp>
    </p:spTree>
    <p:extLst>
      <p:ext uri="{BB962C8B-B14F-4D97-AF65-F5344CB8AC3E}">
        <p14:creationId xmlns:p14="http://schemas.microsoft.com/office/powerpoint/2010/main" val="19933477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CDE4A-B2F9-4B11-806E-F608DF0A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当前结论与后续验证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8C77C-EA2D-402F-92BE-E93BC9D6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概念仿真研究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00736-6EC9-44BF-B1D1-0A71EF7A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763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当前主案例约9.83天</a:t>
            </a:r>
          </a:p>
          <a:p xmlns:a="http://schemas.openxmlformats.org/drawingml/2006/main">
            <a:pPr>
              <a:defRPr sz="34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中等不利组合约13.34天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229C9-8303-4B36-83F4-43B8991B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480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已支持的结论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C4114-EC7F-4397-9465-3012CCA2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523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在已声明条件下，提前留电与反馈分离可形成可核查的控制过程。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FB0BA-5AE5-4F30-9DE7-90F7FE44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648075"/>
            <a:ext cx="512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还需要的证据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8CC9B-DE4E-46C2-9636-C2AB6999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00525"/>
            <a:ext cx="5124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真实设备配套与姿态条件、动态太阳几何、另一台电脑实际复现。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6DFAA-9A11-4F6D-AA3E-7DF96590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概念基准＋设备参数对照。所有不利结果、候选假设与适用边界保留。</a:t>
            </a:r>
          </a:p>
        </p:txBody>
      </p:sp>
    </p:spTree>
    <p:extLst>
      <p:ext uri="{BB962C8B-B14F-4D97-AF65-F5344CB8AC3E}">
        <p14:creationId xmlns:p14="http://schemas.microsoft.com/office/powerpoint/2010/main" val="1632856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8931A-DA46-4C95-A625-65E03D37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备用：主案例关键假设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6F143-541F-49D2-898F-9E0CF4E4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答辩备用  17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963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数值与定义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轨道与卫星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550 km近圆、53°、初始50 kg、干质量49.2 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推进与阻力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mN、1200 s、0.8 kg，本体0.5 m²、新增帆10 m²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650 W向阳、300 Wh、初始80%、保护20%、效率90%/90%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策略与过程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 km候选切换，额外余量10%，展开120秒、确认延迟10秒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固定初始轨道阴影、理想推力指向、模拟健康与反馈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ADBE7-CFBB-43B0-ACA3-60543C2B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650 W和300 Wh是研究输入。120 km为计算终点，365天为计算上限。</a:t>
            </a:r>
          </a:p>
        </p:txBody>
      </p:sp>
    </p:spTree>
    <p:extLst>
      <p:ext uri="{BB962C8B-B14F-4D97-AF65-F5344CB8AC3E}">
        <p14:creationId xmlns:p14="http://schemas.microsoft.com/office/powerpoint/2010/main" val="16319487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9D84C-CE95-4F62-9222-57458ED4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备用：参数出处与工程缺口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2F955-FCAD-4428-A270-5EAE222C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答辩备用  18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3971925"/>
                <a:gridCol w="4486275"/>
              </a:tblGrid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已经核对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仍未证明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CelesTrak配套大气表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现有14行数值匹配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单位注释、高度口径与环境适用性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BHT-200厂家表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mN、1390 s、200 W放电功率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整套输入功率、质量与本项目适配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NASA阻力帆综述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已有部署、离轨与部分展开经验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本项目10 m²有效面积长期保持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原创性资料对照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已有方案、题录或摘要分层记录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全球首次、完整全文与专利检索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3F544-186A-4CF7-AA5F-C52377E1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数字出处、模型适用性、完整设备适配分别核实，不能互相替代。</a:t>
            </a:r>
          </a:p>
        </p:txBody>
      </p:sp>
    </p:spTree>
    <p:extLst>
      <p:ext uri="{BB962C8B-B14F-4D97-AF65-F5344CB8AC3E}">
        <p14:creationId xmlns:p14="http://schemas.microsoft.com/office/powerpoint/2010/main" val="136493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6869F4-7AD8-4B6D-B92B-A0DB3B70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备用：评委追问与简短回答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16EB6-4B54-4677-9AA4-FA9F84AA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答辩备用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7DCC9-B55C-4D8F-8687-160C9EE9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“创新是不是已有技术组合？”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21F85-659D-45A4-8F7A-07168E58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523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当前贡献聚焦资源调度和阶段交接。</a:t>
            </a:r>
          </a:p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未知反馈响应通过独立实验验证。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8FE4E-8B0F-4E1C-AC21-C6E7031F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66875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“半展开为什么反而更快？”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02223-742A-4B6D-B523-40DC02DB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19325"/>
            <a:ext cx="5162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确认后继续补推。燃料约0.595 kg，</a:t>
            </a:r>
          </a:p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高于正常案例的0.442 kg。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9BF7D-F496-45C1-A9FB-7809AB56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“为什么没有实物也说可行？”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1104E-AAF8-4D8C-97F0-0B654425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238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结论只针对给定模型和输入。完整硬件、姿态及在轨可靠性仍未认证。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B574A-A227-4129-BDF4-0C8014F3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5285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8B"/>
                </a:solidFill>
                <a:latin typeface="Microsoft YaHei"/>
                <a:ea typeface="Microsoft YaHei"/>
                <a:cs typeface="Microsoft YaHei"/>
              </a:rPr>
              <a:t>“你们降低碰撞风险了吗？”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C7E5C-D01F-4AD0-A34D-CACE4F24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05300"/>
            <a:ext cx="5162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349"/>
                </a:solidFill>
                <a:latin typeface="Microsoft YaHei"/>
                <a:ea typeface="Microsoft YaHei"/>
                <a:cs typeface="Microsoft YaHei"/>
              </a:rPr>
              <a:t>目前没有计算碰撞概率。退出窗口只是轨道占用时间的代理指标。</a:t>
            </a:r>
          </a:p>
        </p:txBody>
      </p:sp>
    </p:spTree>
    <p:extLst>
      <p:ext uri="{BB962C8B-B14F-4D97-AF65-F5344CB8AC3E}">
        <p14:creationId xmlns:p14="http://schemas.microsoft.com/office/powerpoint/2010/main" val="15507631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97FE0-052F-4570-9DEE-0EE8B75A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95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C43"/>
                </a:solidFill>
                <a:latin typeface="Microsoft YaHei"/>
                <a:ea typeface="Microsoft YaHei"/>
                <a:cs typeface="Microsoft YaHei"/>
              </a:rPr>
              <a:t>备用：复现与来源索引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6F2C2-85F4-45AB-99F2-C3AF8D1E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865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答辩备用  20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96300"/>
              </a:tblGrid>
              <a:tr h="695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证据组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文件名与内容</a:t>
                      </a:r>
                    </a:p>
                  </a:txBody>
                  <a:tcPr marL="91440" marR="91440" marT="45720" marB="45720">
                    <a:solidFill>
                      <a:srgbClr val="102C43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A1供电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power_a1_summary.csv、energy_audit.csv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A2展开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deployment_summary.csv、deployment_audit.csv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U1 / U2输入变化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各组uncertainty_summary.csv、uncertainty_audit.csv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计算与版本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各组resolution_check.csv、来源清单、代码快照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当前入口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33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run_current，24例参考已汇集，跨机实际运行待完成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B5955-E080-4239-B689-1B4C84A8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06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8"/>
                </a:solidFill>
                <a:latin typeface="Microsoft YaHei"/>
                <a:ea typeface="Microsoft YaHei"/>
                <a:cs typeface="Microsoft YaHei"/>
              </a:rPr>
              <a:t>公开资料与逐页数据出处见演讲者备注。团队应如实保留原创过程与AI辅助记录。</a:t>
            </a:r>
          </a:p>
        </p:txBody>
      </p:sp>
    </p:spTree>
    <p:extLst>
      <p:ext uri="{BB962C8B-B14F-4D97-AF65-F5344CB8AC3E}">
        <p14:creationId xmlns:p14="http://schemas.microsoft.com/office/powerpoint/2010/main" val="973669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2026-09-30T14:23:26.4210000Z</dcterms:created>
  <dcterms:modified xsi:type="dcterms:W3CDTF">2026-09-30T14:23:26.4210000Z</dcterms:modified>
</coreProperties>
</file>